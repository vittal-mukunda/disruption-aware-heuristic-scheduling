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660BB1-E7F1-4267-BE83-C20300E01D2A}">
  <a:tblStyle styleId="{C7660BB1-E7F1-4267-BE83-C20300E01D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44049a5c_2_11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d44049a5c_2_11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44049a5c_2_121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d44049a5c_2_121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d44049a5c_2_121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d44049a5c_2_144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d44049a5c_2_144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d44049a5c_2_15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d44049a5c_2_15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d44049a5c_2_166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dd44049a5c_2_166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44049a5c_2_159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d44049a5c_2_159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44049a5c_2_173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d44049a5c_2_173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44049a5c_2_187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d44049a5c_2_187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d44049a5c_0_5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d44049a5c_0_56:notes"/>
          <p:cNvSpPr/>
          <p:nvPr>
            <p:ph idx="2" type="sldImg"/>
          </p:nvPr>
        </p:nvSpPr>
        <p:spPr>
          <a:xfrm>
            <a:off x="404171" y="1143184"/>
            <a:ext cx="6049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44049a5c_2_180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dd44049a5c_2_180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d44049a5c_2_194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d44049a5c_2_194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d44049a5c_2_208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dd44049a5c_2_208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d44049a5c_2_208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d44049a5c_0_66:notes"/>
          <p:cNvSpPr/>
          <p:nvPr>
            <p:ph idx="2" type="sldImg"/>
          </p:nvPr>
        </p:nvSpPr>
        <p:spPr>
          <a:xfrm>
            <a:off x="404171" y="1143184"/>
            <a:ext cx="6049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dd44049a5c_0_6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d44049a5c_0_66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4cc17f0a0_1_9:notes"/>
          <p:cNvSpPr/>
          <p:nvPr>
            <p:ph idx="2" type="sldImg"/>
          </p:nvPr>
        </p:nvSpPr>
        <p:spPr>
          <a:xfrm>
            <a:off x="404171" y="1143184"/>
            <a:ext cx="60498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d4cc17f0a0_1_9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4cc17f0a0_1_9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44049a5c_2_232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d44049a5c_2_232:notes"/>
          <p:cNvSpPr/>
          <p:nvPr>
            <p:ph idx="2" type="sldImg"/>
          </p:nvPr>
        </p:nvSpPr>
        <p:spPr>
          <a:xfrm>
            <a:off x="404171" y="1143184"/>
            <a:ext cx="6049672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131110" y="943712"/>
            <a:ext cx="8881783" cy="36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5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/>
        </p:nvSpPr>
        <p:spPr>
          <a:xfrm>
            <a:off x="3791697" y="4803855"/>
            <a:ext cx="1560604" cy="16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0" lvl="1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0" lvl="2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0" lvl="3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0" lvl="4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0" lvl="5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0" lvl="6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0" lvl="7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0" lvl="8" marL="0" algn="r">
              <a:spcBef>
                <a:spcPts val="0"/>
              </a:spcBef>
              <a:buNone/>
              <a:defRPr b="1" i="0" sz="9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-1" y="57320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96483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500"/>
              <a:buFont typeface="Bookman Old Style"/>
              <a:buNone/>
              <a:defRPr sz="45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405947" y="4758276"/>
            <a:ext cx="2624200" cy="282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sz="180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0" y="0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201706" y="943711"/>
            <a:ext cx="4313144" cy="36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629152" y="943710"/>
            <a:ext cx="4346762" cy="36890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20170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91851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4" name="Google Shape;74;p16"/>
          <p:cNvGrpSpPr/>
          <p:nvPr/>
        </p:nvGrpSpPr>
        <p:grpSpPr>
          <a:xfrm>
            <a:off x="3647128" y="4659386"/>
            <a:ext cx="1735443" cy="450476"/>
            <a:chOff x="9682912" y="8965"/>
            <a:chExt cx="2402541" cy="600635"/>
          </a:xfrm>
        </p:grpSpPr>
        <p:sp>
          <p:nvSpPr>
            <p:cNvPr id="75" name="Google Shape;75;p16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77" name="Google Shape;77;p16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168088" y="60949"/>
            <a:ext cx="1655629" cy="748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23889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100"/>
              <a:buFont typeface="Bookman Old Style"/>
              <a:buNone/>
              <a:defRPr sz="41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623889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4" name="Google Shape;84;p17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85" name="Google Shape;85;p17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7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8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89" name="Google Shape;89;p18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18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18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8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8"/>
          <p:cNvSpPr txBox="1"/>
          <p:nvPr>
            <p:ph type="title"/>
          </p:nvPr>
        </p:nvSpPr>
        <p:spPr>
          <a:xfrm>
            <a:off x="629842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629842" y="1878807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3" type="body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18"/>
          <p:cNvSpPr txBox="1"/>
          <p:nvPr>
            <p:ph idx="4" type="body"/>
          </p:nvPr>
        </p:nvSpPr>
        <p:spPr>
          <a:xfrm>
            <a:off x="4629152" y="1878807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01" name="Google Shape;101;p18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02" name="Google Shape;102;p18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11" name="Google Shape;111;p19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9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14" name="Google Shape;114;p19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9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642" y="0"/>
            <a:ext cx="9143359" cy="5143500"/>
          </a:xfrm>
          <a:prstGeom prst="rect">
            <a:avLst/>
          </a:prstGeom>
          <a:solidFill>
            <a:schemeClr val="lt1">
              <a:alpha val="98823"/>
            </a:schemeClr>
          </a:solidFill>
          <a:ln cap="flat" cmpd="sng" w="76200">
            <a:solidFill>
              <a:srgbClr val="00589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21" name="Google Shape;121;p20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22" name="Google Shape;122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124" name="Google Shape;124;p20"/>
          <p:cNvGrpSpPr/>
          <p:nvPr/>
        </p:nvGrpSpPr>
        <p:grpSpPr>
          <a:xfrm>
            <a:off x="0" y="1"/>
            <a:ext cx="880781" cy="699247"/>
            <a:chOff x="1" y="0"/>
            <a:chExt cx="995082" cy="663388"/>
          </a:xfrm>
        </p:grpSpPr>
        <p:sp>
          <p:nvSpPr>
            <p:cNvPr id="125" name="Google Shape;125;p20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0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1"/>
          <p:cNvGrpSpPr/>
          <p:nvPr/>
        </p:nvGrpSpPr>
        <p:grpSpPr>
          <a:xfrm>
            <a:off x="-26252" y="0"/>
            <a:ext cx="9143359" cy="5143500"/>
            <a:chOff x="-35003" y="-1"/>
            <a:chExt cx="12191144" cy="6858000"/>
          </a:xfrm>
        </p:grpSpPr>
        <p:sp>
          <p:nvSpPr>
            <p:cNvPr id="130" name="Google Shape;130;p21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" name="Google Shape;131;p21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132" name="Google Shape;132;p21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21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7381663" y="13379"/>
            <a:ext cx="1735443" cy="450476"/>
            <a:chOff x="9682912" y="8965"/>
            <a:chExt cx="2402541" cy="600635"/>
          </a:xfrm>
        </p:grpSpPr>
        <p:sp>
          <p:nvSpPr>
            <p:cNvPr id="141" name="Google Shape;141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100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sz="11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629842" y="342900"/>
            <a:ext cx="29491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2"/>
          <p:cNvSpPr/>
          <p:nvPr>
            <p:ph idx="2" type="pic"/>
          </p:nvPr>
        </p:nvSpPr>
        <p:spPr>
          <a:xfrm>
            <a:off x="3887391" y="740569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2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0" type="dt"/>
          </p:nvPr>
        </p:nvSpPr>
        <p:spPr>
          <a:xfrm>
            <a:off x="131109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building with a roof&#10;&#10;Description automatically generated" id="168" name="Google Shape;16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409" y="800258"/>
            <a:ext cx="8565806" cy="292056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69" name="Google Shape;169;p25"/>
          <p:cNvSpPr/>
          <p:nvPr/>
        </p:nvSpPr>
        <p:spPr>
          <a:xfrm>
            <a:off x="261785" y="3110197"/>
            <a:ext cx="8620500" cy="7536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Experiential</a:t>
            </a: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Learning</a:t>
            </a:r>
            <a:endParaRPr b="1" sz="2700">
              <a:solidFill>
                <a:schemeClr val="lt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261784" y="3966437"/>
            <a:ext cx="8565900" cy="7536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Disruption Aware Hybrid Machine Learning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11487" l="0" r="0" t="5034"/>
          <a:stretch/>
        </p:blipFill>
        <p:spPr>
          <a:xfrm>
            <a:off x="3664607" y="1546687"/>
            <a:ext cx="1888352" cy="2072803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6"/>
          <p:cNvSpPr txBox="1"/>
          <p:nvPr/>
        </p:nvSpPr>
        <p:spPr>
          <a:xfrm>
            <a:off x="3664606" y="3754373"/>
            <a:ext cx="2025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75" lIns="74150" spcFirstLastPara="1" rIns="74150" wrap="square" tIns="370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latin typeface="Bookman Old Style"/>
                <a:ea typeface="Bookman Old Style"/>
                <a:cs typeface="Bookman Old Style"/>
                <a:sym typeface="Bookman Old Style"/>
              </a:rPr>
              <a:t>Pranjal Malaiya</a:t>
            </a:r>
            <a:endParaRPr sz="1136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6526" y="1546676"/>
            <a:ext cx="1604514" cy="2068851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6"/>
          <p:cNvSpPr txBox="1"/>
          <p:nvPr/>
        </p:nvSpPr>
        <p:spPr>
          <a:xfrm>
            <a:off x="6636286" y="3749385"/>
            <a:ext cx="20250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75" lIns="74150" spcFirstLastPara="1" rIns="74150" wrap="square" tIns="370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latin typeface="Bookman Old Style"/>
                <a:ea typeface="Bookman Old Style"/>
                <a:cs typeface="Bookman Old Style"/>
                <a:sym typeface="Bookman Old Style"/>
              </a:rPr>
              <a:t>Atharva Somani</a:t>
            </a:r>
            <a:endParaRPr sz="1136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5">
            <a:alphaModFix/>
          </a:blip>
          <a:srcRect b="11489" l="0" r="0" t="0"/>
          <a:stretch/>
        </p:blipFill>
        <p:spPr>
          <a:xfrm>
            <a:off x="482700" y="1546683"/>
            <a:ext cx="1888352" cy="2072804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6"/>
          <p:cNvSpPr txBox="1"/>
          <p:nvPr/>
        </p:nvSpPr>
        <p:spPr>
          <a:xfrm>
            <a:off x="624515" y="3724699"/>
            <a:ext cx="1604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150" lIns="74150" spcFirstLastPara="1" rIns="74150" wrap="square" tIns="7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6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Vittal Mukunda</a:t>
            </a:r>
            <a:endParaRPr sz="1136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1635300" y="316350"/>
            <a:ext cx="7377600" cy="90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Disruption Aware Hybrid Machine Learning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700">
              <a:solidFill>
                <a:srgbClr val="FF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4" name="Google Shape;184;p26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6">
            <a:alphaModFix/>
          </a:blip>
          <a:srcRect b="36794" l="24696" r="24696" t="21546"/>
          <a:stretch/>
        </p:blipFill>
        <p:spPr>
          <a:xfrm>
            <a:off x="3664600" y="1535350"/>
            <a:ext cx="1888350" cy="2072800"/>
          </a:xfrm>
          <a:prstGeom prst="rect">
            <a:avLst/>
          </a:prstGeom>
          <a:noFill/>
          <a:ln cap="flat" cmpd="sng" w="23200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1754624" y="134125"/>
            <a:ext cx="6413462" cy="479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1637071" y="67310"/>
            <a:ext cx="6113897" cy="9899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sz="1100"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431800" y="1250156"/>
            <a:ext cx="8581093" cy="33825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Introduction</a:t>
            </a:r>
            <a:endParaRPr/>
          </a:p>
          <a:p>
            <a:pPr indent="-171450" lvl="0" marL="1778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-GB"/>
              <a:t>Problem Definition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Literature Review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Objectives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Methodology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Proposed Outcomes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Conclusion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</a:pPr>
            <a:r>
              <a:rPr lang="en-GB"/>
              <a:t>References</a:t>
            </a:r>
            <a:endParaRPr/>
          </a:p>
        </p:txBody>
      </p:sp>
      <p:sp>
        <p:nvSpPr>
          <p:cNvPr id="194" name="Google Shape;194;p27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131100" y="1078352"/>
            <a:ext cx="8881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b="1" lang="en-GB" sz="1900"/>
              <a:t>DAHS</a:t>
            </a:r>
            <a:r>
              <a:rPr lang="en-GB" sz="1900"/>
              <a:t>, a hybrid ML scheduler that dynamically selects the best dispatching rule for warehouse operations.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Uses a </a:t>
            </a:r>
            <a:r>
              <a:rPr b="1" lang="en-GB" sz="1900"/>
              <a:t>simulation-based environment</a:t>
            </a:r>
            <a:r>
              <a:rPr lang="en-GB" sz="1900"/>
              <a:t> of an e-commerce warehouse with real-world disruptions (failures, surges, delays).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Applies a </a:t>
            </a:r>
            <a:r>
              <a:rPr b="1" lang="en-GB" sz="1900"/>
              <a:t>Random Forest meta-model</a:t>
            </a:r>
            <a:r>
              <a:rPr lang="en-GB" sz="1900"/>
              <a:t> to choose optimal scheduling strategies based on system state features.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Introduces </a:t>
            </a:r>
            <a:r>
              <a:rPr b="1" lang="en-GB" sz="1900"/>
              <a:t>new disruption-aware features</a:t>
            </a:r>
            <a:r>
              <a:rPr lang="en-GB" sz="1900"/>
              <a:t> to better capture system instability and improve decision-making.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Achieves </a:t>
            </a:r>
            <a:r>
              <a:rPr b="1" lang="en-GB" sz="1900"/>
              <a:t>significant performance improvement</a:t>
            </a:r>
            <a:r>
              <a:rPr lang="en-GB" sz="1900"/>
              <a:t> by reducing delays and SLA violations compared to traditional scheduling methods. </a:t>
            </a:r>
            <a:endParaRPr sz="1900"/>
          </a:p>
        </p:txBody>
      </p:sp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No. </a:t>
            </a: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1040171" y="109252"/>
            <a:ext cx="7375820" cy="62955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sz="3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2" name="Google Shape;202;p28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131110" y="1069039"/>
            <a:ext cx="8881800" cy="4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Handling </a:t>
            </a:r>
            <a:r>
              <a:rPr b="1" lang="en-GB" sz="1900"/>
              <a:t>inefficient scheduling in e-commerce warehouses</a:t>
            </a:r>
            <a:r>
              <a:rPr lang="en-GB" sz="1900"/>
              <a:t> under dynamic and unpredictable conditions.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Overcoming the </a:t>
            </a:r>
            <a:r>
              <a:rPr b="1" lang="en-GB" sz="1900"/>
              <a:t>limitations of fixed dispatching rules</a:t>
            </a:r>
            <a:r>
              <a:rPr lang="en-GB" sz="1900"/>
              <a:t> that fail during disruptions.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Managing </a:t>
            </a:r>
            <a:r>
              <a:rPr b="1" lang="en-GB" sz="1900"/>
              <a:t>real-time decision-making complexity</a:t>
            </a:r>
            <a:r>
              <a:rPr lang="en-GB" sz="1900"/>
              <a:t> in a highly stochastic job shop environment.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Reducing </a:t>
            </a:r>
            <a:r>
              <a:rPr b="1" lang="en-GB" sz="1900"/>
              <a:t>high order delays and SLA violations</a:t>
            </a:r>
            <a:r>
              <a:rPr lang="en-GB" sz="1900"/>
              <a:t> caused by poor scheduling choices.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Adapting scheduling to </a:t>
            </a:r>
            <a:r>
              <a:rPr b="1" lang="en-GB" sz="1900"/>
              <a:t>frequent disruptions like machine failures, demand surges, and priority changes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208" name="Google Shape;208;p29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1127779" y="0"/>
            <a:ext cx="7670800" cy="80724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Definition</a:t>
            </a:r>
            <a:endParaRPr b="1" sz="3000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10" name="Google Shape;210;p29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30"/>
          <p:cNvSpPr txBox="1"/>
          <p:nvPr/>
        </p:nvSpPr>
        <p:spPr>
          <a:xfrm>
            <a:off x="1282701" y="67310"/>
            <a:ext cx="7454899" cy="70739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sz="1100"/>
          </a:p>
        </p:txBody>
      </p:sp>
      <p:graphicFrame>
        <p:nvGraphicFramePr>
          <p:cNvPr id="217" name="Google Shape;217;p30"/>
          <p:cNvGraphicFramePr/>
          <p:nvPr/>
        </p:nvGraphicFramePr>
        <p:xfrm>
          <a:off x="164050" y="83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{C7660BB1-E7F1-4267-BE83-C20300E01D2A}</a:tableStyleId>
              </a:tblPr>
              <a:tblGrid>
                <a:gridCol w="450700"/>
                <a:gridCol w="1771725"/>
                <a:gridCol w="4092875"/>
                <a:gridCol w="2500600"/>
              </a:tblGrid>
              <a:tr h="465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Ref</a:t>
                      </a:r>
                      <a:endParaRPr b="1" sz="11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Author / Year</a:t>
                      </a:r>
                      <a:endParaRPr b="1" sz="11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Key Idea</a:t>
                      </a:r>
                      <a:endParaRPr b="1" sz="11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Limitation</a:t>
                      </a:r>
                      <a:endParaRPr b="1" sz="11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[1]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Statista (2024)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Shows rapid growth of e-commerce → need for efficient scheduling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No technical solution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[2]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Zhang et al. (2020)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Learns optimal dispatching rules automatically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High training cost, low interpretability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[3]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SimPy (2023)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Models real-world systems for testing scheduling strategies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Only simulation tool, not a solution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[4]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Bitsch &amp; Schweitzer (2023)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Selects best scheduling strategy using ML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Limited to specific AGV scenarios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[5]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Wang et al. (2023)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Generates data-driven dispatching rules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Computationally expensive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[6]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Bai et al. (2022)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Highlights role of ML in scheduling and routing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206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General overview, lacks specific model</a:t>
                      </a:r>
                      <a:endParaRPr sz="1300">
                        <a:solidFill>
                          <a:srgbClr val="00206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30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257175" y="1061265"/>
            <a:ext cx="8622600" cy="4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Develop a </a:t>
            </a:r>
            <a:r>
              <a:rPr b="1" lang="en-GB" sz="1900"/>
              <a:t>dynamic scheduling system</a:t>
            </a:r>
            <a:r>
              <a:rPr lang="en-GB" sz="1900"/>
              <a:t> that adapts to real-time warehouse conditions.</a:t>
            </a:r>
            <a:endParaRPr sz="1900"/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Select the </a:t>
            </a:r>
            <a:r>
              <a:rPr b="1" lang="en-GB" sz="1900"/>
              <a:t>best dispatching rule automatically</a:t>
            </a:r>
            <a:r>
              <a:rPr lang="en-GB" sz="1900"/>
              <a:t> using machine learning.</a:t>
            </a:r>
            <a:endParaRPr sz="1900"/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Minimize </a:t>
            </a:r>
            <a:r>
              <a:rPr b="1" lang="en-GB" sz="1900"/>
              <a:t>total tardiness and order delays</a:t>
            </a:r>
            <a:r>
              <a:rPr lang="en-GB" sz="1900"/>
              <a:t> in operations.</a:t>
            </a:r>
            <a:endParaRPr sz="1900"/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Reduce </a:t>
            </a:r>
            <a:r>
              <a:rPr b="1" lang="en-GB" sz="1900"/>
              <a:t>SLA violations</a:t>
            </a:r>
            <a:r>
              <a:rPr lang="en-GB" sz="1900"/>
              <a:t> under uncertain and disruptive environments.</a:t>
            </a:r>
            <a:endParaRPr sz="1900"/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Improve </a:t>
            </a:r>
            <a:r>
              <a:rPr b="1" lang="en-GB" sz="1900"/>
              <a:t>overall efficiency and throughput</a:t>
            </a:r>
            <a:r>
              <a:rPr lang="en-GB" sz="1900"/>
              <a:t> of e-commerce fulfilment systems.</a:t>
            </a:r>
            <a:endParaRPr b="1" sz="1900"/>
          </a:p>
        </p:txBody>
      </p:sp>
      <p:sp>
        <p:nvSpPr>
          <p:cNvPr id="224" name="Google Shape;224;p31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1643422" y="0"/>
            <a:ext cx="6109928" cy="77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sz="1100"/>
          </a:p>
        </p:txBody>
      </p:sp>
      <p:sp>
        <p:nvSpPr>
          <p:cNvPr id="226" name="Google Shape;226;p31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232;p32"/>
          <p:cNvSpPr txBox="1"/>
          <p:nvPr/>
        </p:nvSpPr>
        <p:spPr>
          <a:xfrm>
            <a:off x="1713271" y="0"/>
            <a:ext cx="6109928" cy="6295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1100"/>
          </a:p>
        </p:txBody>
      </p:sp>
      <p:pic>
        <p:nvPicPr>
          <p:cNvPr id="233" name="Google Shape;233;p32"/>
          <p:cNvPicPr preferRelativeResize="0"/>
          <p:nvPr/>
        </p:nvPicPr>
        <p:blipFill rotWithShape="1">
          <a:blip r:embed="rId3">
            <a:alphaModFix/>
          </a:blip>
          <a:srcRect b="6668" l="23151" r="23247" t="16686"/>
          <a:stretch/>
        </p:blipFill>
        <p:spPr>
          <a:xfrm>
            <a:off x="1645663" y="770976"/>
            <a:ext cx="6245142" cy="384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1713271" y="0"/>
            <a:ext cx="6109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1100"/>
          </a:p>
        </p:txBody>
      </p:sp>
      <p:pic>
        <p:nvPicPr>
          <p:cNvPr id="241" name="Google Shape;241;p33"/>
          <p:cNvPicPr preferRelativeResize="0"/>
          <p:nvPr/>
        </p:nvPicPr>
        <p:blipFill rotWithShape="1">
          <a:blip r:embed="rId3">
            <a:alphaModFix/>
          </a:blip>
          <a:srcRect b="0" l="1274" r="0" t="3176"/>
          <a:stretch/>
        </p:blipFill>
        <p:spPr>
          <a:xfrm>
            <a:off x="572725" y="872100"/>
            <a:ext cx="8223698" cy="3804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131108" y="801915"/>
            <a:ext cx="8881783" cy="39584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Model a warehouse system</a:t>
            </a:r>
            <a:r>
              <a:rPr lang="en-GB" sz="1700"/>
              <a:t> using discrete-event simulation with multiple zones and job types.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Incorporate real-world disruptions</a:t>
            </a:r>
            <a:r>
              <a:rPr lang="en-GB" sz="1700"/>
              <a:t> such as machine breakdowns, demand surges, and capacity variations.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Capture system-state features</a:t>
            </a:r>
            <a:r>
              <a:rPr lang="en-GB" sz="1700"/>
              <a:t>, including disruption-aware metrics, at each decision point.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Generate training data</a:t>
            </a:r>
            <a:r>
              <a:rPr lang="en-GB" sz="1700"/>
              <a:t> using multiple scheduling heuristics across diverse scenarios.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Develop a Random Forest-based model</a:t>
            </a:r>
            <a:r>
              <a:rPr lang="en-GB" sz="1700"/>
              <a:t> to dynamically select the best scheduling rule.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Apply a Gradient Boosting model</a:t>
            </a:r>
            <a:r>
              <a:rPr lang="en-GB" sz="1700"/>
              <a:t> for precise job priority scoring.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Evaluate system performance</a:t>
            </a:r>
            <a:r>
              <a:rPr lang="en-GB" sz="1700"/>
              <a:t> using metrics like tardiness, SLA breach rate, and throughput.</a:t>
            </a:r>
            <a:endParaRPr sz="1700"/>
          </a:p>
          <a:p>
            <a:pPr indent="-3365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700"/>
              <a:buChar char="•"/>
            </a:pPr>
            <a:r>
              <a:rPr b="1" lang="en-GB" sz="1700"/>
              <a:t>Validate improvements</a:t>
            </a:r>
            <a:r>
              <a:rPr lang="en-GB" sz="1700"/>
              <a:t> through extensive simulations and statistical analysis.</a:t>
            </a:r>
            <a:endParaRPr sz="1700"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4"/>
          <p:cNvSpPr txBox="1"/>
          <p:nvPr/>
        </p:nvSpPr>
        <p:spPr>
          <a:xfrm>
            <a:off x="1713271" y="0"/>
            <a:ext cx="6109928" cy="6295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1100"/>
          </a:p>
        </p:txBody>
      </p:sp>
      <p:sp>
        <p:nvSpPr>
          <p:cNvPr id="250" name="Google Shape;250;p34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185738" y="1107493"/>
            <a:ext cx="88272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925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Achieve </a:t>
            </a:r>
            <a:r>
              <a:rPr b="1" lang="en-GB" sz="1900"/>
              <a:t>significant reduction in order delays (tardiness)</a:t>
            </a:r>
            <a:r>
              <a:rPr lang="en-GB" sz="1900"/>
              <a:t> compared to traditional methods.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Reduce </a:t>
            </a:r>
            <a:r>
              <a:rPr b="1" lang="en-GB" sz="1900"/>
              <a:t>SLA breach rates</a:t>
            </a:r>
            <a:r>
              <a:rPr lang="en-GB" sz="1900"/>
              <a:t>, ensuring more timely order fulfilment.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Enable </a:t>
            </a:r>
            <a:r>
              <a:rPr b="1" lang="en-GB" sz="1900"/>
              <a:t>adaptive and real-time scheduling decisions</a:t>
            </a:r>
            <a:r>
              <a:rPr lang="en-GB" sz="1900"/>
              <a:t> under dynamic conditions.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Improve </a:t>
            </a:r>
            <a:r>
              <a:rPr b="1" lang="en-GB" sz="1900"/>
              <a:t>overall warehouse efficiency and throughput</a:t>
            </a:r>
            <a:r>
              <a:rPr lang="en-GB" sz="1900"/>
              <a:t>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Provide a </a:t>
            </a:r>
            <a:r>
              <a:rPr b="1" lang="en-GB" sz="1900"/>
              <a:t>robust system that performs well under disruptions</a:t>
            </a:r>
            <a:r>
              <a:rPr lang="en-GB" sz="1900"/>
              <a:t> like failures and demand surges.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</a:pPr>
            <a:r>
              <a:rPr lang="en-GB" sz="1900"/>
              <a:t>Demonstrate the effectiveness of </a:t>
            </a:r>
            <a:r>
              <a:rPr b="1" lang="en-GB" sz="1900"/>
              <a:t>machine learning-based scheduling over fixed heuristics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1713271" y="0"/>
            <a:ext cx="6109928" cy="6295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Outcomes</a:t>
            </a:r>
            <a:endParaRPr sz="1100"/>
          </a:p>
        </p:txBody>
      </p:sp>
      <p:sp>
        <p:nvSpPr>
          <p:cNvPr id="258" name="Google Shape;258;p35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idx="1" type="body"/>
          </p:nvPr>
        </p:nvSpPr>
        <p:spPr>
          <a:xfrm>
            <a:off x="131108" y="838200"/>
            <a:ext cx="8881783" cy="39222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8750" lvl="0" marL="1778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The project aims to make a </a:t>
            </a:r>
            <a:r>
              <a:rPr b="1" lang="en-GB" sz="1900"/>
              <a:t>novel machine learning-based scheduling approach</a:t>
            </a:r>
            <a:r>
              <a:rPr lang="en-GB" sz="1900"/>
              <a:t> for dynamic warehouse environments.</a:t>
            </a:r>
            <a:endParaRPr sz="1900"/>
          </a:p>
          <a:p>
            <a:pPr indent="-158750" lvl="0" marL="177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en-GB" sz="1900"/>
              <a:t>Adaptive decision-making</a:t>
            </a:r>
            <a:r>
              <a:rPr lang="en-GB" sz="1900"/>
              <a:t> outperforms traditional fixed scheduling rules.</a:t>
            </a:r>
            <a:endParaRPr sz="1900"/>
          </a:p>
          <a:p>
            <a:pPr indent="-158750" lvl="0" marL="177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The system will effectively handle </a:t>
            </a:r>
            <a:r>
              <a:rPr b="1" lang="en-GB" sz="1900"/>
              <a:t>uncertainty and real-world disruptions</a:t>
            </a:r>
            <a:r>
              <a:rPr lang="en-GB" sz="1900"/>
              <a:t>.</a:t>
            </a:r>
            <a:endParaRPr sz="1900"/>
          </a:p>
          <a:p>
            <a:pPr indent="-158750" lvl="0" marL="177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It will significant improve in achieving </a:t>
            </a:r>
            <a:r>
              <a:rPr b="1" lang="en-GB" sz="1900"/>
              <a:t>reduced delays and SLA violations</a:t>
            </a:r>
            <a:r>
              <a:rPr lang="en-GB" sz="1900"/>
              <a:t>.</a:t>
            </a:r>
            <a:endParaRPr sz="1900"/>
          </a:p>
          <a:p>
            <a:pPr indent="-158750" lvl="0" marL="177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The approach will prove to be </a:t>
            </a:r>
            <a:r>
              <a:rPr b="1" lang="en-GB" sz="1900"/>
              <a:t>scalable and practical for modern e-commerce systems</a:t>
            </a:r>
            <a:r>
              <a:rPr lang="en-GB" sz="1900"/>
              <a:t>.</a:t>
            </a:r>
            <a:endParaRPr sz="1900"/>
          </a:p>
          <a:p>
            <a:pPr indent="-158750" lvl="0" marL="177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GB" sz="1900"/>
              <a:t>Overall, it will highlight the </a:t>
            </a:r>
            <a:r>
              <a:rPr b="1" lang="en-GB" sz="1900"/>
              <a:t>potential of AI-driven scheduling</a:t>
            </a:r>
            <a:r>
              <a:rPr lang="en-GB" sz="1900"/>
              <a:t> in optimizing complex operations.</a:t>
            </a:r>
            <a:endParaRPr sz="1900"/>
          </a:p>
        </p:txBody>
      </p:sp>
      <p:sp>
        <p:nvSpPr>
          <p:cNvPr id="265" name="Google Shape;265;p36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36"/>
          <p:cNvSpPr txBox="1"/>
          <p:nvPr/>
        </p:nvSpPr>
        <p:spPr>
          <a:xfrm>
            <a:off x="1713271" y="109252"/>
            <a:ext cx="6109928" cy="62955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1100"/>
          </a:p>
        </p:txBody>
      </p:sp>
      <p:sp>
        <p:nvSpPr>
          <p:cNvPr id="267" name="Google Shape;267;p36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idx="1" type="body"/>
          </p:nvPr>
        </p:nvSpPr>
        <p:spPr>
          <a:xfrm>
            <a:off x="292100" y="838200"/>
            <a:ext cx="83946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700"/>
              <a:t>[1] Statista Research Department, “Global retail e-commerce revenue 2019 2027,” Statista, 2024.</a:t>
            </a:r>
            <a:endParaRPr sz="1700"/>
          </a:p>
          <a:p>
            <a:pPr indent="0" lvl="0" marL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700"/>
              <a:t>[2] </a:t>
            </a:r>
            <a:r>
              <a:rPr lang="en-GB" sz="1700"/>
              <a:t>C. Zhang, W. Song, Z. Cao, J. Zhang, P. S. Tan, and X. Chi, “Learning to dispatch for job shop scheduling via deep reinforcement learning,” in Adv. Neural Inf. Process. Syst. (NeurIPS), vol. 33, 2020, pp. 1621–1632</a:t>
            </a:r>
            <a:endParaRPr sz="1700"/>
          </a:p>
          <a:p>
            <a:pPr indent="0" lvl="0" marL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700"/>
              <a:t>[3] </a:t>
            </a:r>
            <a:r>
              <a:rPr lang="en-GB" sz="1700"/>
              <a:t>SimPy Development Team, “SimPy 4.1: Discrete-event simulation for Python,” 2023. [Online]. Available: https://simpy.readthedocs.io</a:t>
            </a:r>
            <a:endParaRPr sz="1700"/>
          </a:p>
          <a:p>
            <a:pPr indent="0" lvl="0" marL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700"/>
              <a:t>[4] G. Bitsch and F. Schweitzer, "Choosing solution strategies for scheduling automated guided vehicles in production using machine learning," </a:t>
            </a:r>
            <a:r>
              <a:rPr i="1" lang="en-GB" sz="1700"/>
              <a:t>Applied Sciences</a:t>
            </a:r>
            <a:r>
              <a:rPr lang="en-GB" sz="1700"/>
              <a:t>, vol. 13, no. 2, p. 806, Jan. 2023.</a:t>
            </a:r>
            <a:endParaRPr sz="1700"/>
          </a:p>
          <a:p>
            <a:pPr indent="0" lvl="0" marL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/>
              <a:t>[5] H. Wang et al., "A data-driven simulation-optimization framework for generating priority dispatching rules in dynamic job shop scheduling with uncertainties," Oct. 2023. [Online]. Available: ResearchGate.</a:t>
            </a:r>
            <a:endParaRPr sz="1700"/>
          </a:p>
        </p:txBody>
      </p:sp>
      <p:sp>
        <p:nvSpPr>
          <p:cNvPr id="274" name="Google Shape;274;p37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1713271" y="109252"/>
            <a:ext cx="6109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sz="1100"/>
          </a:p>
        </p:txBody>
      </p:sp>
      <p:sp>
        <p:nvSpPr>
          <p:cNvPr id="276" name="Google Shape;276;p37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292100" y="838200"/>
            <a:ext cx="8394600" cy="39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/>
              <a:t>[6] R. Bai et al., "Analytics and machine learning in scheduling and routing research," </a:t>
            </a:r>
            <a:r>
              <a:rPr i="1" lang="en-GB" sz="1600"/>
              <a:t>International Journal of Production Research</a:t>
            </a:r>
            <a:r>
              <a:rPr lang="en-GB" sz="1600"/>
              <a:t>, Oct. 2022, doi: 10.1080/00207543.2022.2131930.</a:t>
            </a:r>
            <a:endParaRPr sz="16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[7] A. Corsini, S. Calderara, and M. Dell’Amico, “Learning the quality of machine permutations in job shop scheduling,” </a:t>
            </a:r>
            <a:r>
              <a:rPr i="1" lang="en-GB" sz="1600"/>
              <a:t>arXiv preprint arXiv:2207.03244</a:t>
            </a:r>
            <a:r>
              <a:rPr lang="en-GB" sz="1600"/>
              <a:t>, 2022.</a:t>
            </a:r>
            <a:endParaRPr sz="16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[8] R. Bai, G. Kendall, and E. K. Burke, “Analytics and machine learning in scheduling and routing research,” </a:t>
            </a:r>
            <a:r>
              <a:rPr i="1" lang="en-GB" sz="1600"/>
              <a:t>International Journal of Production Research</a:t>
            </a:r>
            <a:r>
              <a:rPr lang="en-GB" sz="1600"/>
              <a:t>, vol. 61, no. 1, pp. 1–22, 2022.</a:t>
            </a:r>
            <a:endParaRPr sz="16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[9] M. Xu, Y. Mei, F. Zhang, and M. Zhang, “Learn to optimise for job shop scheduling: A survey with comparison between genetic programming and reinforcement learning,” </a:t>
            </a:r>
            <a:r>
              <a:rPr i="1" lang="en-GB" sz="1600"/>
              <a:t>Artificial Intelligence Review</a:t>
            </a:r>
            <a:r>
              <a:rPr lang="en-GB" sz="1600"/>
              <a:t>, vol. 58, 2025.</a:t>
            </a:r>
            <a:endParaRPr sz="1600"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/>
              <a:t>[10] A. K. Kaban, Z. Othman, and D. S. Rohmah, “Comparison of dispatching rules in job-shop scheduling problem using simulation,” </a:t>
            </a:r>
            <a:r>
              <a:rPr i="1" lang="en-GB" sz="1600"/>
              <a:t>International Journal of Simulation Modelling</a:t>
            </a:r>
            <a:r>
              <a:rPr lang="en-GB" sz="1600"/>
              <a:t>, recent applications extended in 2022 studies on ML-based scheduling.</a:t>
            </a:r>
            <a:endParaRPr sz="1600"/>
          </a:p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6955491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4" name="Google Shape;284;p38"/>
          <p:cNvSpPr txBox="1"/>
          <p:nvPr/>
        </p:nvSpPr>
        <p:spPr>
          <a:xfrm>
            <a:off x="1713271" y="109252"/>
            <a:ext cx="6109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sz="1100"/>
          </a:p>
        </p:txBody>
      </p:sp>
      <p:sp>
        <p:nvSpPr>
          <p:cNvPr id="285" name="Google Shape;285;p38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6955491" y="476040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1" name="Google Shape;29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322" y="1204473"/>
            <a:ext cx="4417359" cy="273455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>
            <p:ph idx="10" type="dt"/>
          </p:nvPr>
        </p:nvSpPr>
        <p:spPr>
          <a:xfrm>
            <a:off x="131109" y="4760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Tuesday, 07 April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