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4"/>
    <p:sldId id="262" r:id="rId17"/>
    <p:sldId id="263" r:id="rId18"/>
    <p:sldId id="264" r:id="rId13"/>
    <p:sldId id="265" r:id="rId15"/>
    <p:sldId id="266" r:id="rId16"/>
    <p:sldId id="271" r:id="rId23"/>
    <p:sldId id="272" r:id="rId24"/>
    <p:sldId id="273" r:id="rId25"/>
    <p:sldId id="267" r:id="rId19"/>
    <p:sldId id="268" r:id="rId20"/>
    <p:sldId id="269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660BB1-E7F1-4267-BE83-C20300E01D2A}">
  <a:tblStyle styleId="{C7660BB1-E7F1-4267-BE83-C20300E01D2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d44049a5c_2_112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dd44049a5c_2_112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d44049a5c_2_121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dd44049a5c_2_121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dd44049a5c_2_121:notes"/>
          <p:cNvSpPr txBox="1"/>
          <p:nvPr>
            <p:ph idx="12" type="sldNum"/>
          </p:nvPr>
        </p:nvSpPr>
        <p:spPr>
          <a:xfrm>
            <a:off x="3884620" y="8685225"/>
            <a:ext cx="297180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d44049a5c_2_144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dd44049a5c_2_144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d44049a5c_2_152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dd44049a5c_2_152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d44049a5c_2_166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dd44049a5c_2_166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d44049a5c_2_159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dd44049a5c_2_159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d44049a5c_2_173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dd44049a5c_2_173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d44049a5c_2_187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dd44049a5c_2_187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d44049a5c_0_56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dd44049a5c_0_56:notes"/>
          <p:cNvSpPr/>
          <p:nvPr>
            <p:ph idx="2" type="sldImg"/>
          </p:nvPr>
        </p:nvSpPr>
        <p:spPr>
          <a:xfrm>
            <a:off x="404171" y="1143184"/>
            <a:ext cx="60498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d44049a5c_2_180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dd44049a5c_2_180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d44049a5c_2_194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dd44049a5c_2_194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d44049a5c_2_208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dd44049a5c_2_208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dd44049a5c_2_208:notes"/>
          <p:cNvSpPr txBox="1"/>
          <p:nvPr>
            <p:ph idx="12" type="sldNum"/>
          </p:nvPr>
        </p:nvSpPr>
        <p:spPr>
          <a:xfrm>
            <a:off x="3884620" y="8685225"/>
            <a:ext cx="297180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d44049a5c_0_66:notes"/>
          <p:cNvSpPr/>
          <p:nvPr>
            <p:ph idx="2" type="sldImg"/>
          </p:nvPr>
        </p:nvSpPr>
        <p:spPr>
          <a:xfrm>
            <a:off x="404171" y="1143184"/>
            <a:ext cx="60498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dd44049a5c_0_66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dd44049a5c_0_66:notes"/>
          <p:cNvSpPr txBox="1"/>
          <p:nvPr>
            <p:ph idx="12" type="sldNum"/>
          </p:nvPr>
        </p:nvSpPr>
        <p:spPr>
          <a:xfrm>
            <a:off x="3884620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d44049a5c_2_232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dd44049a5c_2_232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jpg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131110" y="943712"/>
            <a:ext cx="8881783" cy="36890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5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4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4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8" name="Google Shape;58;p14"/>
          <p:cNvSpPr txBox="1"/>
          <p:nvPr/>
        </p:nvSpPr>
        <p:spPr>
          <a:xfrm>
            <a:off x="3791697" y="4803855"/>
            <a:ext cx="1560604" cy="16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100" u="none" cap="none" strike="noStrike">
                <a:solidFill>
                  <a:srgbClr val="422C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Go, change the world</a:t>
            </a:r>
            <a:endParaRPr b="1" i="0" sz="11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131109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9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indent="0" lvl="1" marL="0" algn="r">
              <a:spcBef>
                <a:spcPts val="0"/>
              </a:spcBef>
              <a:buNone/>
              <a:defRPr b="1" i="0" sz="9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indent="0" lvl="2" marL="0" algn="r">
              <a:spcBef>
                <a:spcPts val="0"/>
              </a:spcBef>
              <a:buNone/>
              <a:defRPr b="1" i="0" sz="9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indent="0" lvl="3" marL="0" algn="r">
              <a:spcBef>
                <a:spcPts val="0"/>
              </a:spcBef>
              <a:buNone/>
              <a:defRPr b="1" i="0" sz="9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indent="0" lvl="4" marL="0" algn="r">
              <a:spcBef>
                <a:spcPts val="0"/>
              </a:spcBef>
              <a:buNone/>
              <a:defRPr b="1" i="0" sz="9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indent="0" lvl="5" marL="0" algn="r">
              <a:spcBef>
                <a:spcPts val="0"/>
              </a:spcBef>
              <a:buNone/>
              <a:defRPr b="1" i="0" sz="9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indent="0" lvl="6" marL="0" algn="r">
              <a:spcBef>
                <a:spcPts val="0"/>
              </a:spcBef>
              <a:buNone/>
              <a:defRPr b="1" i="0" sz="9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indent="0" lvl="7" marL="0" algn="r">
              <a:spcBef>
                <a:spcPts val="0"/>
              </a:spcBef>
              <a:buNone/>
              <a:defRPr b="1" i="0" sz="9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indent="0" lvl="8" marL="0" algn="r">
              <a:spcBef>
                <a:spcPts val="0"/>
              </a:spcBef>
              <a:buNone/>
              <a:defRPr b="1" i="0" sz="9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2">
            <a:alphaModFix/>
          </a:blip>
          <a:srcRect b="0" l="0" r="0" t="13833"/>
          <a:stretch/>
        </p:blipFill>
        <p:spPr>
          <a:xfrm>
            <a:off x="-1" y="57320"/>
            <a:ext cx="1655629" cy="748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1143000" y="896483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500"/>
              <a:buFont typeface="Bookman Old Style"/>
              <a:buNone/>
              <a:defRPr sz="45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800"/>
              <a:buNone/>
              <a:defRPr sz="1800">
                <a:solidFill>
                  <a:srgbClr val="C00000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3405947" y="4758276"/>
            <a:ext cx="2624200" cy="282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422C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Go, change the world</a:t>
            </a:r>
            <a:endParaRPr b="1" sz="1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2">
            <a:alphaModFix/>
          </a:blip>
          <a:srcRect b="0" l="0" r="0" t="13833"/>
          <a:stretch/>
        </p:blipFill>
        <p:spPr>
          <a:xfrm>
            <a:off x="0" y="0"/>
            <a:ext cx="1655629" cy="748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201706" y="943711"/>
            <a:ext cx="4313144" cy="36890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2" type="body"/>
          </p:nvPr>
        </p:nvSpPr>
        <p:spPr>
          <a:xfrm>
            <a:off x="4629152" y="943710"/>
            <a:ext cx="4346762" cy="36890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20170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91851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74" name="Google Shape;74;p16"/>
          <p:cNvGrpSpPr/>
          <p:nvPr/>
        </p:nvGrpSpPr>
        <p:grpSpPr>
          <a:xfrm>
            <a:off x="3647128" y="4659386"/>
            <a:ext cx="1735443" cy="450476"/>
            <a:chOff x="9682912" y="8965"/>
            <a:chExt cx="2402541" cy="600635"/>
          </a:xfrm>
        </p:grpSpPr>
        <p:sp>
          <p:nvSpPr>
            <p:cNvPr id="75" name="Google Shape;75;p16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16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57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1100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  <p:pic>
        <p:nvPicPr>
          <p:cNvPr id="77" name="Google Shape;77;p16"/>
          <p:cNvPicPr preferRelativeResize="0"/>
          <p:nvPr/>
        </p:nvPicPr>
        <p:blipFill rotWithShape="1">
          <a:blip r:embed="rId2">
            <a:alphaModFix/>
          </a:blip>
          <a:srcRect b="0" l="0" r="0" t="13833"/>
          <a:stretch/>
        </p:blipFill>
        <p:spPr>
          <a:xfrm>
            <a:off x="168088" y="60949"/>
            <a:ext cx="1655629" cy="748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623889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100"/>
              <a:buFont typeface="Bookman Old Style"/>
              <a:buNone/>
              <a:defRPr sz="41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623889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84" name="Google Shape;84;p17"/>
          <p:cNvGrpSpPr/>
          <p:nvPr/>
        </p:nvGrpSpPr>
        <p:grpSpPr>
          <a:xfrm>
            <a:off x="7381663" y="13379"/>
            <a:ext cx="1735443" cy="450476"/>
            <a:chOff x="9682912" y="8965"/>
            <a:chExt cx="2402541" cy="600635"/>
          </a:xfrm>
        </p:grpSpPr>
        <p:sp>
          <p:nvSpPr>
            <p:cNvPr id="85" name="Google Shape;85;p17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7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57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1100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8"/>
          <p:cNvGrpSpPr/>
          <p:nvPr/>
        </p:nvGrpSpPr>
        <p:grpSpPr>
          <a:xfrm>
            <a:off x="-26252" y="0"/>
            <a:ext cx="9143359" cy="5143500"/>
            <a:chOff x="-35003" y="-1"/>
            <a:chExt cx="12191144" cy="6858000"/>
          </a:xfrm>
        </p:grpSpPr>
        <p:sp>
          <p:nvSpPr>
            <p:cNvPr id="89" name="Google Shape;89;p18"/>
            <p:cNvSpPr/>
            <p:nvPr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8823"/>
              </a:schemeClr>
            </a:solidFill>
            <a:ln cap="flat" cmpd="sng" w="76200">
              <a:solidFill>
                <a:srgbClr val="00589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" name="Google Shape;90;p18"/>
            <p:cNvGrpSpPr/>
            <p:nvPr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91" name="Google Shape;91;p18"/>
              <p:cNvSpPr/>
              <p:nvPr/>
            </p:nvSpPr>
            <p:spPr>
              <a:xfrm>
                <a:off x="1" y="0"/>
                <a:ext cx="995082" cy="663388"/>
              </a:xfrm>
              <a:custGeom>
                <a:rect b="b" l="l" r="r" t="t"/>
                <a:pathLst>
                  <a:path extrusionOk="0" h="5134610" w="7436484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8"/>
              <p:cNvSpPr/>
              <p:nvPr/>
            </p:nvSpPr>
            <p:spPr>
              <a:xfrm>
                <a:off x="73957" y="36743"/>
                <a:ext cx="383242" cy="310714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3" name="Google Shape;93;p18"/>
          <p:cNvSpPr txBox="1"/>
          <p:nvPr>
            <p:ph type="title"/>
          </p:nvPr>
        </p:nvSpPr>
        <p:spPr>
          <a:xfrm>
            <a:off x="629842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5" name="Google Shape;95;p18"/>
          <p:cNvSpPr txBox="1"/>
          <p:nvPr>
            <p:ph idx="2" type="body"/>
          </p:nvPr>
        </p:nvSpPr>
        <p:spPr>
          <a:xfrm>
            <a:off x="629842" y="1878807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3" type="body"/>
          </p:nvPr>
        </p:nvSpPr>
        <p:spPr>
          <a:xfrm>
            <a:off x="4629152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7" name="Google Shape;97;p18"/>
          <p:cNvSpPr txBox="1"/>
          <p:nvPr>
            <p:ph idx="4" type="body"/>
          </p:nvPr>
        </p:nvSpPr>
        <p:spPr>
          <a:xfrm>
            <a:off x="4629152" y="1878807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01" name="Google Shape;101;p18"/>
          <p:cNvGrpSpPr/>
          <p:nvPr/>
        </p:nvGrpSpPr>
        <p:grpSpPr>
          <a:xfrm>
            <a:off x="7381663" y="13379"/>
            <a:ext cx="1735443" cy="450476"/>
            <a:chOff x="9682912" y="8965"/>
            <a:chExt cx="2402541" cy="600635"/>
          </a:xfrm>
        </p:grpSpPr>
        <p:sp>
          <p:nvSpPr>
            <p:cNvPr id="102" name="Google Shape;102;p18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8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57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1100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/>
          <p:nvPr/>
        </p:nvSpPr>
        <p:spPr>
          <a:xfrm>
            <a:off x="642" y="0"/>
            <a:ext cx="9143359" cy="5143500"/>
          </a:xfrm>
          <a:prstGeom prst="rect">
            <a:avLst/>
          </a:prstGeom>
          <a:solidFill>
            <a:schemeClr val="lt1">
              <a:alpha val="98823"/>
            </a:schemeClr>
          </a:solidFill>
          <a:ln cap="flat" cmpd="sng" w="76200">
            <a:solidFill>
              <a:srgbClr val="00589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9"/>
          <p:cNvSpPr txBox="1"/>
          <p:nvPr>
            <p:ph type="title"/>
          </p:nvPr>
        </p:nvSpPr>
        <p:spPr>
          <a:xfrm>
            <a:off x="62865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10" name="Google Shape;110;p19"/>
          <p:cNvGrpSpPr/>
          <p:nvPr/>
        </p:nvGrpSpPr>
        <p:grpSpPr>
          <a:xfrm>
            <a:off x="0" y="1"/>
            <a:ext cx="880781" cy="699247"/>
            <a:chOff x="1" y="0"/>
            <a:chExt cx="995082" cy="663388"/>
          </a:xfrm>
        </p:grpSpPr>
        <p:sp>
          <p:nvSpPr>
            <p:cNvPr id="111" name="Google Shape;111;p19"/>
            <p:cNvSpPr/>
            <p:nvPr/>
          </p:nvSpPr>
          <p:spPr>
            <a:xfrm>
              <a:off x="1" y="0"/>
              <a:ext cx="995082" cy="663388"/>
            </a:xfrm>
            <a:custGeom>
              <a:rect b="b" l="l" r="r" t="t"/>
              <a:pathLst>
                <a:path extrusionOk="0" h="5134610" w="7436484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9"/>
            <p:cNvSpPr/>
            <p:nvPr/>
          </p:nvSpPr>
          <p:spPr>
            <a:xfrm>
              <a:off x="73957" y="36743"/>
              <a:ext cx="383242" cy="310714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19"/>
          <p:cNvGrpSpPr/>
          <p:nvPr/>
        </p:nvGrpSpPr>
        <p:grpSpPr>
          <a:xfrm>
            <a:off x="7381663" y="13379"/>
            <a:ext cx="1735443" cy="450476"/>
            <a:chOff x="9682912" y="8965"/>
            <a:chExt cx="2402541" cy="600635"/>
          </a:xfrm>
        </p:grpSpPr>
        <p:sp>
          <p:nvSpPr>
            <p:cNvPr id="114" name="Google Shape;114;p19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9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57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1100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642" y="0"/>
            <a:ext cx="9143359" cy="5143500"/>
          </a:xfrm>
          <a:prstGeom prst="rect">
            <a:avLst/>
          </a:prstGeom>
          <a:solidFill>
            <a:schemeClr val="lt1">
              <a:alpha val="98823"/>
            </a:schemeClr>
          </a:solidFill>
          <a:ln cap="flat" cmpd="sng" w="76200">
            <a:solidFill>
              <a:srgbClr val="00589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0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21" name="Google Shape;121;p20"/>
          <p:cNvGrpSpPr/>
          <p:nvPr/>
        </p:nvGrpSpPr>
        <p:grpSpPr>
          <a:xfrm>
            <a:off x="7381663" y="13379"/>
            <a:ext cx="1735443" cy="450476"/>
            <a:chOff x="9682912" y="8965"/>
            <a:chExt cx="2402541" cy="600635"/>
          </a:xfrm>
        </p:grpSpPr>
        <p:sp>
          <p:nvSpPr>
            <p:cNvPr id="122" name="Google Shape;122;p20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20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57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1100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  <p:grpSp>
        <p:nvGrpSpPr>
          <p:cNvPr id="124" name="Google Shape;124;p20"/>
          <p:cNvGrpSpPr/>
          <p:nvPr/>
        </p:nvGrpSpPr>
        <p:grpSpPr>
          <a:xfrm>
            <a:off x="0" y="1"/>
            <a:ext cx="880781" cy="699247"/>
            <a:chOff x="1" y="0"/>
            <a:chExt cx="995082" cy="663388"/>
          </a:xfrm>
        </p:grpSpPr>
        <p:sp>
          <p:nvSpPr>
            <p:cNvPr id="125" name="Google Shape;125;p20"/>
            <p:cNvSpPr/>
            <p:nvPr/>
          </p:nvSpPr>
          <p:spPr>
            <a:xfrm>
              <a:off x="1" y="0"/>
              <a:ext cx="995082" cy="663388"/>
            </a:xfrm>
            <a:custGeom>
              <a:rect b="b" l="l" r="r" t="t"/>
              <a:pathLst>
                <a:path extrusionOk="0" h="5134610" w="7436484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0"/>
            <p:cNvSpPr/>
            <p:nvPr/>
          </p:nvSpPr>
          <p:spPr>
            <a:xfrm>
              <a:off x="73957" y="36743"/>
              <a:ext cx="383242" cy="310714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7" name="Google Shape;1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3322" y="1204473"/>
            <a:ext cx="4417359" cy="273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21"/>
          <p:cNvGrpSpPr/>
          <p:nvPr/>
        </p:nvGrpSpPr>
        <p:grpSpPr>
          <a:xfrm>
            <a:off x="-26252" y="0"/>
            <a:ext cx="9143359" cy="5143500"/>
            <a:chOff x="-35003" y="-1"/>
            <a:chExt cx="12191144" cy="6858000"/>
          </a:xfrm>
        </p:grpSpPr>
        <p:sp>
          <p:nvSpPr>
            <p:cNvPr id="130" name="Google Shape;130;p21"/>
            <p:cNvSpPr/>
            <p:nvPr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8823"/>
              </a:schemeClr>
            </a:solidFill>
            <a:ln cap="flat" cmpd="sng" w="76200">
              <a:solidFill>
                <a:srgbClr val="00589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1" name="Google Shape;131;p21"/>
            <p:cNvGrpSpPr/>
            <p:nvPr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132" name="Google Shape;132;p21"/>
              <p:cNvSpPr/>
              <p:nvPr/>
            </p:nvSpPr>
            <p:spPr>
              <a:xfrm>
                <a:off x="1" y="0"/>
                <a:ext cx="995082" cy="663388"/>
              </a:xfrm>
              <a:custGeom>
                <a:rect b="b" l="l" r="r" t="t"/>
                <a:pathLst>
                  <a:path extrusionOk="0" h="5134610" w="7436484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21"/>
              <p:cNvSpPr/>
              <p:nvPr/>
            </p:nvSpPr>
            <p:spPr>
              <a:xfrm>
                <a:off x="73957" y="36743"/>
                <a:ext cx="383242" cy="310714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4" name="Google Shape;134;p21"/>
          <p:cNvSpPr txBox="1"/>
          <p:nvPr>
            <p:ph type="title"/>
          </p:nvPr>
        </p:nvSpPr>
        <p:spPr>
          <a:xfrm>
            <a:off x="629842" y="342900"/>
            <a:ext cx="2949177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3887391" y="740569"/>
            <a:ext cx="4629151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36" name="Google Shape;136;p21"/>
          <p:cNvSpPr txBox="1"/>
          <p:nvPr>
            <p:ph idx="2" type="body"/>
          </p:nvPr>
        </p:nvSpPr>
        <p:spPr>
          <a:xfrm>
            <a:off x="629842" y="1543050"/>
            <a:ext cx="2949177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7" name="Google Shape;137;p21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7381663" y="13379"/>
            <a:ext cx="1735443" cy="450476"/>
            <a:chOff x="9682912" y="8965"/>
            <a:chExt cx="2402541" cy="600635"/>
          </a:xfrm>
        </p:grpSpPr>
        <p:sp>
          <p:nvSpPr>
            <p:cNvPr id="141" name="Google Shape;141;p21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21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57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1100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629842" y="342900"/>
            <a:ext cx="2949177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2"/>
          <p:cNvSpPr/>
          <p:nvPr>
            <p:ph idx="2" type="pic"/>
          </p:nvPr>
        </p:nvSpPr>
        <p:spPr>
          <a:xfrm>
            <a:off x="3887391" y="740569"/>
            <a:ext cx="4629151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629842" y="1543050"/>
            <a:ext cx="2949177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47" name="Google Shape;147;p22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2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62865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 rot="5400000">
            <a:off x="2940250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3" name="Google Shape;153;p23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3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9" name="Google Shape;159;p24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24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24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8.jp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_se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_rob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idx="10" type="dt"/>
          </p:nvPr>
        </p:nvSpPr>
        <p:spPr>
          <a:xfrm>
            <a:off x="131109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02 June 2026</a:t>
            </a:r>
            <a:endParaRPr/>
          </a:p>
        </p:txBody>
      </p:sp>
      <p:sp>
        <p:nvSpPr>
          <p:cNvPr id="167" name="Google Shape;167;p25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A building with a roof  Description automatically generated" id="168" name="Google Shape;168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409" y="800258"/>
            <a:ext cx="8565806" cy="2920564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sp>
        <p:nvSpPr>
          <p:cNvPr id="169" name="Google Shape;169;p25"/>
          <p:cNvSpPr/>
          <p:nvPr/>
        </p:nvSpPr>
        <p:spPr>
          <a:xfrm>
            <a:off x="261785" y="3110197"/>
            <a:ext cx="8620500" cy="7536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2700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Experiential</a:t>
            </a:r>
            <a:r>
              <a:rPr b="1" lang="en-GB" sz="2700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 Learning - Phase II</a:t>
            </a:r>
            <a:endParaRPr b="1" sz="2700">
              <a:solidFill>
                <a:schemeClr val="lt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261784" y="3966437"/>
            <a:ext cx="8565900" cy="7536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Disruption Aware Hybrid Machine Learning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idx="12" type="sldNum"/>
          </p:nvPr>
        </p:nvSpPr>
        <p:spPr>
          <a:xfrm>
            <a:off x="6955491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7" name="Google Shape;177;p26"/>
          <p:cNvPicPr preferRelativeResize="0"/>
          <p:nvPr/>
        </p:nvPicPr>
        <p:blipFill rotWithShape="1">
          <a:blip r:embed="rId3">
            <a:alphaModFix/>
          </a:blip>
          <a:srcRect b="11487" l="0" r="0" t="5034"/>
          <a:stretch/>
        </p:blipFill>
        <p:spPr>
          <a:xfrm>
            <a:off x="3664607" y="1546687"/>
            <a:ext cx="1888352" cy="2072803"/>
          </a:xfrm>
          <a:prstGeom prst="rect">
            <a:avLst/>
          </a:prstGeom>
          <a:noFill/>
          <a:ln cap="flat" cmpd="sng" w="2320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8" name="Google Shape;178;p26"/>
          <p:cNvSpPr txBox="1"/>
          <p:nvPr/>
        </p:nvSpPr>
        <p:spPr>
          <a:xfrm>
            <a:off x="3664606" y="3754373"/>
            <a:ext cx="20250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75" lIns="74150" spcFirstLastPara="1" rIns="74150" wrap="square" tIns="370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36">
                <a:latin typeface="Bookman Old Style"/>
                <a:ea typeface="Bookman Old Style"/>
                <a:cs typeface="Bookman Old Style"/>
                <a:sym typeface="Bookman Old Style"/>
              </a:rPr>
              <a:t>Pranjal Malaiya</a:t>
            </a:r>
            <a:endParaRPr sz="1136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79" name="Google Shape;17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6526" y="1546676"/>
            <a:ext cx="1604514" cy="2068851"/>
          </a:xfrm>
          <a:prstGeom prst="rect">
            <a:avLst/>
          </a:prstGeom>
          <a:noFill/>
          <a:ln cap="flat" cmpd="sng" w="2320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0" name="Google Shape;180;p26"/>
          <p:cNvSpPr txBox="1"/>
          <p:nvPr/>
        </p:nvSpPr>
        <p:spPr>
          <a:xfrm>
            <a:off x="6636286" y="3749385"/>
            <a:ext cx="20250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75" lIns="74150" spcFirstLastPara="1" rIns="74150" wrap="square" tIns="370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36">
                <a:latin typeface="Bookman Old Style"/>
                <a:ea typeface="Bookman Old Style"/>
                <a:cs typeface="Bookman Old Style"/>
                <a:sym typeface="Bookman Old Style"/>
              </a:rPr>
              <a:t>Atharva Somani</a:t>
            </a:r>
            <a:endParaRPr sz="1136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81" name="Google Shape;181;p26"/>
          <p:cNvPicPr preferRelativeResize="0"/>
          <p:nvPr/>
        </p:nvPicPr>
        <p:blipFill rotWithShape="1">
          <a:blip r:embed="rId5">
            <a:alphaModFix/>
          </a:blip>
          <a:srcRect b="11489" l="0" r="0" t="0"/>
          <a:stretch/>
        </p:blipFill>
        <p:spPr>
          <a:xfrm>
            <a:off x="482700" y="1546683"/>
            <a:ext cx="1888352" cy="2072804"/>
          </a:xfrm>
          <a:prstGeom prst="rect">
            <a:avLst/>
          </a:prstGeom>
          <a:noFill/>
          <a:ln cap="flat" cmpd="sng" w="2320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2" name="Google Shape;182;p26"/>
          <p:cNvSpPr txBox="1"/>
          <p:nvPr/>
        </p:nvSpPr>
        <p:spPr>
          <a:xfrm>
            <a:off x="624515" y="3724699"/>
            <a:ext cx="16047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150" lIns="74150" spcFirstLastPara="1" rIns="74150" wrap="square" tIns="7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36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Vittal Mukunda</a:t>
            </a:r>
            <a:endParaRPr sz="1136">
              <a:solidFill>
                <a:srgbClr val="0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1635300" y="316350"/>
            <a:ext cx="7377600" cy="90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2700">
                <a:solidFill>
                  <a:srgbClr val="FF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Disruption Aware Hybrid Machine Learning</a:t>
            </a:r>
            <a:endParaRPr sz="11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700">
              <a:solidFill>
                <a:srgbClr val="FF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84" name="Google Shape;184;p26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02 June 2026</a:t>
            </a:r>
            <a:endParaRPr/>
          </a:p>
        </p:txBody>
      </p:sp>
      <p:pic>
        <p:nvPicPr>
          <p:cNvPr id="185" name="Google Shape;185;p26"/>
          <p:cNvPicPr preferRelativeResize="0"/>
          <p:nvPr/>
        </p:nvPicPr>
        <p:blipFill rotWithShape="1">
          <a:blip r:embed="rId6">
            <a:alphaModFix/>
          </a:blip>
          <a:srcRect b="36794" l="24696" r="24696" t="21546"/>
          <a:stretch/>
        </p:blipFill>
        <p:spPr>
          <a:xfrm>
            <a:off x="3664600" y="1535350"/>
            <a:ext cx="1888350" cy="2072800"/>
          </a:xfrm>
          <a:prstGeom prst="rect">
            <a:avLst/>
          </a:prstGeom>
          <a:noFill/>
          <a:ln cap="flat" cmpd="sng" w="2320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1" name="Google Shape;191;p27"/>
          <p:cNvSpPr txBox="1"/>
          <p:nvPr/>
        </p:nvSpPr>
        <p:spPr>
          <a:xfrm>
            <a:off x="1754624" y="134125"/>
            <a:ext cx="6413462" cy="4790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1"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7"/>
          <p:cNvSpPr txBox="1"/>
          <p:nvPr/>
        </p:nvSpPr>
        <p:spPr>
          <a:xfrm>
            <a:off x="1637071" y="67310"/>
            <a:ext cx="6113897" cy="98996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EL Phase-II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Presentation Outline</a:t>
            </a:r>
            <a:endParaRPr sz="1100"/>
          </a:p>
        </p:txBody>
      </p:sp>
      <p:sp>
        <p:nvSpPr>
          <p:cNvPr id="193" name="Google Shape;193;p27"/>
          <p:cNvSpPr txBox="1"/>
          <p:nvPr>
            <p:ph idx="1" type="body"/>
          </p:nvPr>
        </p:nvSpPr>
        <p:spPr>
          <a:xfrm>
            <a:off x="431800" y="1250156"/>
            <a:ext cx="8581093" cy="33825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-GB"/>
              <a:t>Recap of Phase-I</a:t>
            </a:r>
            <a:endParaRPr/>
          </a:p>
          <a:p>
            <a:pPr indent="-171450" lvl="0" marL="177800" rtl="0" algn="l">
              <a:spcBef>
                <a:spcPts val="800"/>
              </a:spcBef>
              <a:spcAft>
                <a:spcPts val="0"/>
              </a:spcAft>
              <a:buSzPts val="2100"/>
              <a:buChar char="•"/>
            </a:pPr>
            <a:r>
              <a:rPr lang="en-GB"/>
              <a:t>Phase-II Objectives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-GB"/>
              <a:t>How DAHS Works (Final Method)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-GB"/>
              <a:t>Experimental Setup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-GB"/>
              <a:t>Main Results &amp; Sample Efficiency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-GB"/>
              <a:t>Robustness &amp; Real-Data Validation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-GB"/>
              <a:t>Beating the Papers &amp; Industry Comparison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-GB"/>
              <a:t>Conclusion &amp; References</a:t>
            </a:r>
            <a:endParaRPr/>
          </a:p>
        </p:txBody>
      </p:sp>
      <p:sp>
        <p:nvSpPr>
          <p:cNvPr id="194" name="Google Shape;194;p27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02 June 2026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Body"/>
          <p:cNvSpPr txBox="1"/>
          <p:nvPr>
            <p:ph idx="1" type="body"/>
          </p:nvPr>
        </p:nvSpPr>
        <p:spPr>
          <a:xfrm>
            <a:off x="131100" y="1078352"/>
            <a:ext cx="88818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925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b="1" lang="en-GB" sz="1800"/>
              <a:t xml:space="preserve">Problem: </a:t>
            </a:r>
            <a:r>
              <a:rPr lang="en-GB" sz="1800"/>
              <a:t>e-commerce warehouses must dispatch orders under constant change — demand surges, perishable goods and tight delivery deadlines (SLAs). One fixed rule cannot stay best all day.</a:t>
            </a:r>
            <a:endParaRPr sz="18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b="1" lang="en-GB" sz="1800"/>
              <a:t xml:space="preserve">Phase-I proposal: </a:t>
            </a:r>
            <a:r>
              <a:rPr lang="en-GB" sz="1800"/>
              <a:t>DAHS — a machine-learning scheduler that picks the best dispatching rule for the current situation, instead of using one rule for the whole shift.</a:t>
            </a:r>
            <a:endParaRPr sz="18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b="1" lang="en-GB" sz="1800"/>
              <a:t xml:space="preserve">The plan: </a:t>
            </a:r>
            <a:r>
              <a:rPr lang="en-GB" sz="1800"/>
              <a:t>build a realistic warehouse simulator, capture disruption-aware features, and train a model to choose the right rule at each decision point.</a:t>
            </a:r>
            <a:endParaRPr sz="18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b="1" lang="en-GB" sz="1800"/>
              <a:t xml:space="preserve">The goal: </a:t>
            </a:r>
            <a:r>
              <a:rPr lang="en-GB" sz="1800"/>
              <a:t>fewer late orders (SLA breaches) and lower delays (tardiness), without the cost and instability of heavy AI methods.</a:t>
            </a:r>
            <a:endParaRPr sz="18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b="1" lang="en-GB" sz="1800"/>
              <a:t xml:space="preserve">Phase-II task: </a:t>
            </a:r>
            <a:r>
              <a:rPr lang="en-GB" sz="1800"/>
              <a:t>actually build it, test it against strong baselines and published papers, and prove that it works.</a:t>
            </a:r>
            <a:endParaRPr sz="1800"/>
          </a:p>
        </p:txBody>
      </p:sp>
      <p:sp>
        <p:nvSpPr>
          <p:cNvPr id="302" name="Title"/>
          <p:cNvSpPr txBox="1"/>
          <p:nvPr/>
        </p:nvSpPr>
        <p:spPr>
          <a:xfrm>
            <a:off x="372000" y="109252"/>
            <a:ext cx="8400000" cy="62955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Recap of Phase-I</a:t>
            </a:r>
          </a:p>
        </p:txBody>
      </p:sp>
      <p:sp>
        <p:nvSpPr>
          <p:cNvPr id="303" name="num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 xml:space="preserve">Slide No. </a:t>
            </a: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4" name="dt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02 June 2026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Body"/>
          <p:cNvSpPr txBox="1"/>
          <p:nvPr>
            <p:ph idx="1" type="body"/>
          </p:nvPr>
        </p:nvSpPr>
        <p:spPr>
          <a:xfrm>
            <a:off x="131100" y="1078352"/>
            <a:ext cx="88818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925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b="1" lang="en-GB" sz="1800"/>
              <a:t xml:space="preserve">Build the full system: </a:t>
            </a:r>
            <a:r>
              <a:rPr lang="en-GB" sz="1800"/>
              <a:t>a complete warehouse simulator, the training pipeline and the final DAHS model, working end-to-end.</a:t>
            </a:r>
            <a:endParaRPr sz="18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b="1" lang="en-GB" sz="1800"/>
              <a:t xml:space="preserve">Refine the method: </a:t>
            </a:r>
            <a:r>
              <a:rPr lang="en-GB" sz="1800"/>
              <a:t>replace the early Random-Forest idea with a stronger approach — offline rollout distillation feeding a calibrated gradient-boosted ranker.</a:t>
            </a:r>
            <a:endParaRPr sz="18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b="1" lang="en-GB" sz="1800"/>
              <a:t xml:space="preserve">Compare fairly: </a:t>
            </a:r>
            <a:r>
              <a:rPr lang="en-GB" sz="1800"/>
              <a:t>test against static rules, an analytic lookahead controller, a contextual bandit, and two published learning methods (PPO and offline-RL).</a:t>
            </a:r>
            <a:endParaRPr sz="18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b="1" lang="en-GB" sz="1800"/>
              <a:t xml:space="preserve">Prove it, do not just claim it: </a:t>
            </a:r>
            <a:r>
              <a:rPr lang="en-GB" sz="1800"/>
              <a:t>measure SLA breach, cost and tardiness on 50 unseen shifts, with confidence intervals and significance tests.</a:t>
            </a:r>
            <a:endParaRPr sz="18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b="1" lang="en-GB" sz="1800"/>
              <a:t xml:space="preserve">Stress-test: </a:t>
            </a:r>
            <a:r>
              <a:rPr lang="en-GB" sz="1800"/>
              <a:t>check robustness across many untuned settings and under realistic, bursty real-world order data.</a:t>
            </a:r>
            <a:endParaRPr sz="1800"/>
          </a:p>
        </p:txBody>
      </p:sp>
      <p:sp>
        <p:nvSpPr>
          <p:cNvPr id="322" name="Title"/>
          <p:cNvSpPr txBox="1"/>
          <p:nvPr/>
        </p:nvSpPr>
        <p:spPr>
          <a:xfrm>
            <a:off x="372000" y="109252"/>
            <a:ext cx="8400000" cy="62955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Phase-II Objectives</a:t>
            </a:r>
          </a:p>
        </p:txBody>
      </p:sp>
      <p:sp>
        <p:nvSpPr>
          <p:cNvPr id="323" name="num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 xml:space="preserve">Slide No. </a:t>
            </a: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4" name="dt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02 June 2026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num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1" name="Title"/>
          <p:cNvSpPr txBox="1"/>
          <p:nvPr/>
        </p:nvSpPr>
        <p:spPr>
          <a:xfrm>
            <a:off x="611704" y="67310"/>
            <a:ext cx="7920592" cy="70739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Main Results — DAHS vs All Baselines</a:t>
            </a:r>
          </a:p>
        </p:txBody>
      </p:sp>
      <p:graphicFrame>
        <p:nvGraphicFramePr>
          <p:cNvPr id="403" name="Table"/>
          <p:cNvGraphicFramePr/>
          <p:nvPr/>
        </p:nvGraphicFramePr>
        <p:xfrm>
          <a:off x="177000" y="880000"/>
          <a:ext cx="8790000" cy="3000000"/>
        </p:xfrm>
        <a:graphic>
          <a:graphicData uri="http://schemas.openxmlformats.org/drawingml/2006/table">
            <a:tbl>
              <a:tblPr>
                <a:noFill/>
                <a:tableStyleId>{C7660BB1-E7F1-4267-BE83-C20300E01D2A}</a:tableStyleId>
              </a:tblPr>
              <a:tblGrid>
                <a:gridCol w="3450000"/>
                <a:gridCol w="1780000"/>
                <a:gridCol w="1780000"/>
                <a:gridCol w="1780000"/>
              </a:tblGrid>
              <a:tr h="38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Method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SLA breach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Composite cost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Mean tardiness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DAHS (ours)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1.33%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3.09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0.53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A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greedy-MPC (analytic lookahead)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3.13%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9.19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1.82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Snapshot ranker (τ = 1)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3.73%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8.77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1.59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PPO — deep RL (fair budget)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3.85%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3.92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0.26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FIFO (best static rule)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6.60%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7.57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0.62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Offline-RL — fitted-Q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7.18%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7.46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0.53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PPO — deep RL (60× budget)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11.81%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12.60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1.00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000">
                <a:tc gridSpan="4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5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Takeaway: lower is better. DAHS has the fewest SLA breaches and the lowest cost — 2.4 points below the next-best learned method.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05" name="dt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02 June 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Body"/>
          <p:cNvSpPr txBox="1"/>
          <p:nvPr>
            <p:ph idx="1" type="body"/>
          </p:nvPr>
        </p:nvSpPr>
        <p:spPr>
          <a:xfrm>
            <a:off x="131100" y="1078352"/>
            <a:ext cx="88818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925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b="1" lang="en-GB" sz="1800"/>
              <a:t xml:space="preserve">Four simple rules in the toolbox: </a:t>
            </a:r>
            <a:r>
              <a:rPr lang="en-GB" sz="1800"/>
              <a:t>FIFO (oldest first), FEFO (earliest-expiry first), WSPT (shortest job first), ATC (urgency-weighted). Each is fast and easy to understand.</a:t>
            </a:r>
            <a:endParaRPr sz="18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b="1" lang="en-GB" sz="1800"/>
              <a:t xml:space="preserve">No single rule wins: </a:t>
            </a:r>
            <a:r>
              <a:rPr lang="en-GB" sz="1800"/>
              <a:t>the best rule keeps changing during a shift — FEFO is best 43% of the time, WSPT 32%, FIFO 15%, ATC 10%. So which rule to use is a real decision.</a:t>
            </a:r>
            <a:endParaRPr sz="18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b="1" lang="en-GB" sz="1800"/>
              <a:t xml:space="preserve">DAHS is a selector: </a:t>
            </a:r>
            <a:r>
              <a:rPr lang="en-GB" sz="1800"/>
              <a:t>every 15 minutes it reads the warehouse state and picks the rule expected to cost the least over the next hour.</a:t>
            </a:r>
            <a:endParaRPr sz="18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b="1" lang="en-GB" sz="1800"/>
              <a:t xml:space="preserve">Learned cheaply, offline: </a:t>
            </a:r>
            <a:r>
              <a:rPr lang="en-GB" sz="1800"/>
              <a:t>we simulate each rule's short-term outcome once, ahead of time, and teach a model to copy the best choice.</a:t>
            </a:r>
            <a:endParaRPr sz="18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b="1" lang="en-GB" sz="1800"/>
              <a:t xml:space="preserve">Instant at runtime: </a:t>
            </a:r>
            <a:r>
              <a:rPr lang="en-GB" sz="1800"/>
              <a:t>one fast prediction, no live simulation — and the chosen rule is a name a supervisor can see and trust.</a:t>
            </a:r>
            <a:endParaRPr sz="1800"/>
          </a:p>
        </p:txBody>
      </p:sp>
      <p:sp>
        <p:nvSpPr>
          <p:cNvPr id="342" name="Title"/>
          <p:cNvSpPr txBox="1"/>
          <p:nvPr/>
        </p:nvSpPr>
        <p:spPr>
          <a:xfrm>
            <a:off x="372000" y="109252"/>
            <a:ext cx="8400000" cy="62955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How DAHS Works — The Core Idea</a:t>
            </a:r>
          </a:p>
        </p:txBody>
      </p:sp>
      <p:sp>
        <p:nvSpPr>
          <p:cNvPr id="343" name="num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 xml:space="preserve">Slide No. </a:t>
            </a: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4" name="dt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02 June 2026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Title"/>
          <p:cNvSpPr txBox="1"/>
          <p:nvPr/>
        </p:nvSpPr>
        <p:spPr>
          <a:xfrm>
            <a:off x="372000" y="67310"/>
            <a:ext cx="8400000" cy="62955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Sample Efficiency — The Key Result</a:t>
            </a:r>
          </a:p>
        </p:txBody>
      </p:sp>
      <p:sp>
        <p:nvSpPr>
          <p:cNvPr id="806" name="Caption"/>
          <p:cNvSpPr txBox="1"/>
          <p:nvPr/>
        </p:nvSpPr>
        <p:spPr>
          <a:xfrm>
            <a:off x="320000" y="755000"/>
            <a:ext cx="8504000" cy="1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Just 25 training shifts</a:t>
            </a:r>
            <a:r>
              <a:rPr lang="en-GB" sz="14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 (about 2.5 hours of simulation) already beat every baseline at any data budget.</a:t>
            </a: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DAHS even beats offline-RL trained on </a:t>
            </a:r>
            <a:r>
              <a:rPr b="1" lang="en-GB" sz="14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10x more data</a:t>
            </a:r>
            <a:r>
              <a:rPr lang="en-GB" sz="14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 — each training moment carries a directly measured answer, so learning is dense and stable.</a:t>
            </a:r>
          </a:p>
        </p:txBody>
      </p:sp>
      <p:pic>
        <p:nvPicPr>
          <p:cNvPr id="805" name="Figure"/>
          <p:cNvPicPr preferRelativeResize="0"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893739" y="1840000"/>
            <a:ext cx="7356521" cy="28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num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04" name="dt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02 June 2026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Title"/>
          <p:cNvSpPr txBox="1"/>
          <p:nvPr/>
        </p:nvSpPr>
        <p:spPr>
          <a:xfrm>
            <a:off x="372000" y="67310"/>
            <a:ext cx="8400000" cy="62955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Robustness &amp; Real-World Validation</a:t>
            </a:r>
          </a:p>
        </p:txBody>
      </p:sp>
      <p:sp>
        <p:nvSpPr>
          <p:cNvPr id="856" name="Caption"/>
          <p:cNvSpPr txBox="1"/>
          <p:nvPr/>
        </p:nvSpPr>
        <p:spPr>
          <a:xfrm>
            <a:off x="320000" y="755000"/>
            <a:ext cx="8504000" cy="1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Tested on bursty arrivals from a real e-commerce trace (Olist, ~100k orders): </a:t>
            </a:r>
            <a:r>
              <a:rPr b="1" lang="en-GB" sz="14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DAHS keeps rank one on every metric.</a:t>
            </a: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 xml:space="preserve">Its lead actually </a:t>
            </a:r>
            <a:r>
              <a:rPr b="1" lang="en-GB" sz="14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widens under realistic bursts</a:t>
            </a:r>
            <a:r>
              <a:rPr lang="en-GB" sz="14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, and it stays Pareto-best across all 4 scenarios and 12 untuned settings.</a:t>
            </a:r>
          </a:p>
        </p:txBody>
      </p:sp>
      <p:pic>
        <p:nvPicPr>
          <p:cNvPr id="855" name="Figure"/>
          <p:cNvPicPr preferRelativeResize="0"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300000" y="1968400"/>
            <a:ext cx="8544000" cy="256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num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54" name="dt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02 June 2026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Body"/>
          <p:cNvSpPr txBox="1"/>
          <p:nvPr>
            <p:ph idx="1" type="body"/>
          </p:nvPr>
        </p:nvSpPr>
        <p:spPr>
          <a:xfrm>
            <a:off x="131100" y="1078352"/>
            <a:ext cx="88818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925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b="1" lang="en-GB" sz="1800"/>
              <a:t xml:space="preserve">Step 1 — Gather experience: </a:t>
            </a:r>
            <a:r>
              <a:rPr lang="en-GB" sz="1800"/>
              <a:t>run 250 simulated 8-hour shifts trying all rules, collecting 8,000 real decision moments.</a:t>
            </a:r>
            <a:endParaRPr sz="18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b="1" lang="en-GB" sz="1800"/>
              <a:t xml:space="preserve">Step 2 — Measure the truth (rollout): </a:t>
            </a:r>
            <a:r>
              <a:rPr lang="en-GB" sz="1800"/>
              <a:t>at each moment, briefly simulate every rule forward and record its actual cost — the direct answer, not a guess.</a:t>
            </a:r>
            <a:endParaRPr sz="18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b="1" lang="en-GB" sz="1800"/>
              <a:t xml:space="preserve">Step 3 — Find operating regimes: </a:t>
            </a:r>
            <a:r>
              <a:rPr lang="en-GB" sz="1800"/>
              <a:t>automatically group situations (quiet start, busy peak, perishable rush) so the model knows the context.</a:t>
            </a:r>
            <a:endParaRPr sz="18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b="1" lang="en-GB" sz="1800"/>
              <a:t xml:space="preserve">Step 4 — Train a calibrated ranker: </a:t>
            </a:r>
            <a:r>
              <a:rPr lang="en-GB" sz="1800"/>
              <a:t>a gradient-boosted model learns to predict the best rule; its confidence is calibrated so a light switching controller can act safely.</a:t>
            </a:r>
            <a:endParaRPr sz="18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b="1" lang="en-GB" sz="1800"/>
              <a:t xml:space="preserve">Deploy: </a:t>
            </a:r>
            <a:r>
              <a:rPr lang="en-GB" sz="1800"/>
              <a:t>one forward pass per 15-minute interval picks the rule — transparent, fast and stable.</a:t>
            </a:r>
            <a:endParaRPr sz="1800"/>
          </a:p>
        </p:txBody>
      </p:sp>
      <p:sp>
        <p:nvSpPr>
          <p:cNvPr id="362" name="Title"/>
          <p:cNvSpPr txBox="1"/>
          <p:nvPr/>
        </p:nvSpPr>
        <p:spPr>
          <a:xfrm>
            <a:off x="372000" y="109252"/>
            <a:ext cx="8400000" cy="62955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How DAHS Works — The 4-Step Pipeline</a:t>
            </a:r>
          </a:p>
        </p:txBody>
      </p:sp>
      <p:sp>
        <p:nvSpPr>
          <p:cNvPr id="363" name="num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 xml:space="preserve">Slide No. </a:t>
            </a: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4" name="dt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02 June 2026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Body"/>
          <p:cNvSpPr txBox="1"/>
          <p:nvPr>
            <p:ph idx="1" type="body"/>
          </p:nvPr>
        </p:nvSpPr>
        <p:spPr>
          <a:xfrm>
            <a:off x="131100" y="1078352"/>
            <a:ext cx="88818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925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700"/>
              <a:buChar char="●"/>
            </a:pPr>
            <a:r>
              <a:rPr b="1" lang="en-GB" sz="1700"/>
              <a:t xml:space="preserve">Simulator: </a:t>
            </a:r>
            <a:r>
              <a:rPr lang="en-GB" sz="1700"/>
              <a:t>an 8-hour shift split into 32 intervals of 15 minutes, 10 pickers, orders arriving randomly, 20% perishable, each with a deadline.</a:t>
            </a:r>
            <a:endParaRPr sz="17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Char char="●"/>
            </a:pPr>
            <a:r>
              <a:rPr b="1" lang="en-GB" sz="1700"/>
              <a:t xml:space="preserve">Fair testing: </a:t>
            </a:r>
            <a:r>
              <a:rPr lang="en-GB" sz="1700"/>
              <a:t>all methods judged on the same 50 unseen shifts; training used a separate 250 shifts.</a:t>
            </a:r>
            <a:endParaRPr sz="17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Char char="●"/>
            </a:pPr>
            <a:r>
              <a:rPr b="1" lang="en-GB" sz="1700"/>
              <a:t xml:space="preserve">Scenarios: </a:t>
            </a:r>
            <a:r>
              <a:rPr lang="en-GB" sz="1700"/>
              <a:t>light load, balanced, default, and a tough high-load-perishable case — all fixed in advance, never tuned per method.</a:t>
            </a:r>
            <a:endParaRPr sz="17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Char char="●"/>
            </a:pPr>
            <a:r>
              <a:rPr b="1" lang="en-GB" sz="1700"/>
              <a:t xml:space="preserve">Baselines: </a:t>
            </a:r>
            <a:r>
              <a:rPr lang="en-GB" sz="1700"/>
              <a:t>the 4 static rules, a snapshot model, an analytic one-step lookahead (greedy-MPC), a contextual bandit (LinUCB), PPO (deep RL) and offline-RL (fitted-Q).</a:t>
            </a:r>
            <a:endParaRPr sz="17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Char char="●"/>
            </a:pPr>
            <a:r>
              <a:rPr b="1" lang="en-GB" sz="1700"/>
              <a:t xml:space="preserve">Metrics: </a:t>
            </a:r>
            <a:r>
              <a:rPr lang="en-GB" sz="1700"/>
              <a:t>SLA-breach rate (main), composite cost, tardiness, throughput and picker use — with bootstrap confidence intervals and significance tests.</a:t>
            </a:r>
            <a:endParaRPr sz="1700"/>
          </a:p>
        </p:txBody>
      </p:sp>
      <p:sp>
        <p:nvSpPr>
          <p:cNvPr id="382" name="Title"/>
          <p:cNvSpPr txBox="1"/>
          <p:nvPr/>
        </p:nvSpPr>
        <p:spPr>
          <a:xfrm>
            <a:off x="372000" y="109252"/>
            <a:ext cx="8400000" cy="62955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Experimental Setup</a:t>
            </a:r>
          </a:p>
        </p:txBody>
      </p:sp>
      <p:sp>
        <p:nvSpPr>
          <p:cNvPr id="383" name="num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 xml:space="preserve">Slide No. </a:t>
            </a: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4" name="dt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02 June 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Body"/>
          <p:cNvSpPr txBox="1"/>
          <p:nvPr>
            <p:ph idx="1" type="body"/>
          </p:nvPr>
        </p:nvSpPr>
        <p:spPr>
          <a:xfrm>
            <a:off x="131100" y="1078352"/>
            <a:ext cx="88818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925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550"/>
              <a:buChar char="●"/>
            </a:pPr>
            <a:r>
              <a:rPr b="1" lang="en-GB" sz="1550"/>
              <a:t xml:space="preserve">DAHS works: </a:t>
            </a:r>
            <a:r>
              <a:rPr lang="en-GB" sz="1550"/>
              <a:t>1.33% SLA-breach vs 3.13% (analytic) and 7.18% (offline-RL) — the fewest breaches and the lowest cost on unseen shifts.</a:t>
            </a:r>
            <a:endParaRPr sz="155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50"/>
              <a:buChar char="●"/>
            </a:pPr>
            <a:r>
              <a:rPr b="1" lang="en-GB" sz="1550"/>
              <a:t xml:space="preserve">Headline = sample efficiency: </a:t>
            </a:r>
            <a:r>
              <a:rPr lang="en-GB" sz="1550"/>
              <a:t>a deployable controller from just 25 shifts, beating methods trained on 10x more data.</a:t>
            </a:r>
            <a:endParaRPr sz="155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50"/>
              <a:buChar char="●"/>
            </a:pPr>
            <a:r>
              <a:rPr b="1" lang="en-GB" sz="1550"/>
              <a:t xml:space="preserve">Beats published methods: </a:t>
            </a:r>
            <a:r>
              <a:rPr lang="en-GB" sz="1550"/>
              <a:t>outperforms PPO and an offline-RL (Offline-LD style) method by wide, statistically significant margins.</a:t>
            </a:r>
            <a:endParaRPr sz="155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50"/>
              <a:buChar char="●"/>
            </a:pPr>
            <a:r>
              <a:rPr b="1" lang="en-GB" sz="1550"/>
              <a:t xml:space="preserve">Robust and realistic: </a:t>
            </a:r>
            <a:r>
              <a:rPr lang="en-GB" sz="1550"/>
              <a:t>Pareto non-dominated, stable across 12 untuned settings, and its lead widens under real bursty order data.</a:t>
            </a:r>
            <a:endParaRPr sz="155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50"/>
              <a:buChar char="●"/>
            </a:pPr>
            <a:r>
              <a:rPr b="1" lang="en-GB" sz="1550"/>
              <a:t xml:space="preserve">Practical edge: </a:t>
            </a:r>
            <a:r>
              <a:rPr lang="en-GB" sz="1550"/>
              <a:t>transparent named rules, instant decisions, no live simulation — adaptivity without heavy-AI cost.</a:t>
            </a:r>
            <a:endParaRPr sz="155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50"/>
              <a:buChar char="●"/>
            </a:pPr>
            <a:r>
              <a:rPr b="1" lang="en-GB" sz="1550"/>
              <a:t xml:space="preserve">Next: </a:t>
            </a:r>
            <a:r>
              <a:rPr lang="en-GB" sz="1550"/>
              <a:t>validate on a real warehouse log and a larger rule pool. Phase-II is complete and ready to finish.</a:t>
            </a:r>
            <a:endParaRPr sz="1550"/>
          </a:p>
        </p:txBody>
      </p:sp>
      <p:sp>
        <p:nvSpPr>
          <p:cNvPr id="402" name="Title"/>
          <p:cNvSpPr txBox="1"/>
          <p:nvPr/>
        </p:nvSpPr>
        <p:spPr>
          <a:xfrm>
            <a:off x="372000" y="109252"/>
            <a:ext cx="8400000" cy="62955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Conclusion</a:t>
            </a:r>
          </a:p>
        </p:txBody>
      </p:sp>
      <p:sp>
        <p:nvSpPr>
          <p:cNvPr id="403" name="num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 xml:space="preserve">Slide No. </a:t>
            </a: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4" name="dt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02 June 2026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Body"/>
          <p:cNvSpPr txBox="1"/>
          <p:nvPr>
            <p:ph idx="1" type="body"/>
          </p:nvPr>
        </p:nvSpPr>
        <p:spPr>
          <a:xfrm>
            <a:off x="292100" y="820000"/>
            <a:ext cx="8560000" cy="3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GB" sz="1300"/>
              <a:t>[1] Pluijm et al. (2025). Offline-LD: Offline Reinforcement Learning with maskable Q-learning for scheduling. arXiv. — the closest published competitor (our offline-RL baseline).</a:t>
            </a:r>
            <a:endParaRPr sz="1300"/>
          </a:p>
          <a:p>
            <a:pPr indent="0" lvl="0" marL="0" rtl="0" algn="just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GB" sz="1300"/>
              <a:t>[2] Schulman, Wolski, Dhariwal, Radford &amp; Klimov (2017). Proximal Policy Optimization Algorithms. arXiv:1707.06347.</a:t>
            </a:r>
            <a:endParaRPr sz="1300"/>
          </a:p>
          <a:p>
            <a:pPr indent="0" lvl="0" marL="0" rtl="0" algn="just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GB" sz="1300"/>
              <a:t>[3] Bertsekas (2020). Rollout, Policy Iteration, and Distributed Reinforcement Learning. Athena Scientific.</a:t>
            </a:r>
            <a:endParaRPr sz="1300"/>
          </a:p>
          <a:p>
            <a:pPr indent="0" lvl="0" marL="0" rtl="0" algn="just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GB" sz="1300"/>
              <a:t>[4] Ernst, Geurts &amp; Wehenkel (2005). Tree-Based Batch Mode Reinforcement Learning (fitted Q-iteration). JMLR 6, 503–556.</a:t>
            </a:r>
            <a:endParaRPr sz="1300"/>
          </a:p>
          <a:p>
            <a:pPr indent="0" lvl="0" marL="0" rtl="0" algn="just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GB" sz="1300"/>
              <a:t>[5] Drake, Kheiri, Özcan &amp; Burke (2020). Recent advances in selection hyper-heuristics. European Journal of Operational Research 285(2).</a:t>
            </a:r>
            <a:endParaRPr sz="1300"/>
          </a:p>
          <a:p>
            <a:pPr indent="0" lvl="0" marL="0" rtl="0" algn="just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GB" sz="1300"/>
              <a:t>[6] Chen &amp; Guestrin (2016). XGBoost: A Scalable Tree Boosting System. ACM SIGKDD.</a:t>
            </a:r>
            <a:endParaRPr sz="1300"/>
          </a:p>
          <a:p>
            <a:pPr indent="0" lvl="0" marL="0" rtl="0" algn="just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GB" sz="1300"/>
              <a:t>[7] Mahmoudinazlou et al. (2025). Deep reinforcement learning for dynamic order picking in warehouses. Computers &amp; Operations Research 182.</a:t>
            </a:r>
            <a:endParaRPr sz="1300"/>
          </a:p>
          <a:p>
            <a:pPr indent="0" lvl="0" marL="0" rtl="0" algn="just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GB" sz="1300"/>
              <a:t>[8] Olist (2018). Brazilian E-Commerce Public Dataset. Kaggle.</a:t>
            </a:r>
            <a:endParaRPr sz="1300"/>
          </a:p>
        </p:txBody>
      </p:sp>
      <p:sp>
        <p:nvSpPr>
          <p:cNvPr id="275" name="Title"/>
          <p:cNvSpPr txBox="1"/>
          <p:nvPr/>
        </p:nvSpPr>
        <p:spPr>
          <a:xfrm>
            <a:off x="1713271" y="109252"/>
            <a:ext cx="6109800" cy="62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References</a:t>
            </a:r>
          </a:p>
        </p:txBody>
      </p:sp>
      <p:sp>
        <p:nvSpPr>
          <p:cNvPr id="274" name="num"/>
          <p:cNvSpPr txBox="1"/>
          <p:nvPr>
            <p:ph idx="12" type="sldNum"/>
          </p:nvPr>
        </p:nvSpPr>
        <p:spPr>
          <a:xfrm>
            <a:off x="6955491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6" name="dt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02 June 2026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91" name="Google Shape;29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3322" y="1204473"/>
            <a:ext cx="4417359" cy="273455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9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02 June 2026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num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1" name="Title"/>
          <p:cNvSpPr txBox="1"/>
          <p:nvPr/>
        </p:nvSpPr>
        <p:spPr>
          <a:xfrm>
            <a:off x="611704" y="67310"/>
            <a:ext cx="7920592" cy="70739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Beating the Published Papers</a:t>
            </a:r>
          </a:p>
        </p:txBody>
      </p:sp>
      <p:graphicFrame>
        <p:nvGraphicFramePr>
          <p:cNvPr id="503" name="Table"/>
          <p:cNvGraphicFramePr/>
          <p:nvPr/>
        </p:nvGraphicFramePr>
        <p:xfrm>
          <a:off x="272000" y="880000"/>
          <a:ext cx="8600000" cy="3000000"/>
        </p:xfrm>
        <a:graphic>
          <a:graphicData uri="http://schemas.openxmlformats.org/drawingml/2006/table">
            <a:tbl>
              <a:tblPr>
                <a:noFill/>
                <a:tableStyleId>{C7660BB1-E7F1-4267-BE83-C20300E01D2A}</a:tableStyleId>
              </a:tblPr>
              <a:tblGrid>
                <a:gridCol w="2620000"/>
                <a:gridCol w="1280000"/>
                <a:gridCol w="1180000"/>
                <a:gridCol w="3520000"/>
              </a:tblGrid>
              <a:tr h="38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Published method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Its breach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DAHS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Why DAHS wins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Offline-LD — offline RL, 2025 (closest competitor)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7.18%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1.33%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5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+5.85 pts better (95% CI excludes 0); the paper's method collapses to 61.9% breach under heavy load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PPO — deep RL, 2017 (fair budget)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3.85%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1.33%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5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2.9× fewer breaches; PPO never learns a state-aware policy on this problem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PPO — same, 60× budget (500k steps)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11.81%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1.33%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5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More training made it worse — it collapsed to always picking one rule (FEFO)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000">
                <a:tc gridSpan="4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5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Takeaway: same data, same model family, fair tuning — DAHS wins the metric that matters most: getting orders out on time.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05" name="dt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02 June 2026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num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01" name="Title"/>
          <p:cNvSpPr txBox="1"/>
          <p:nvPr/>
        </p:nvSpPr>
        <p:spPr>
          <a:xfrm>
            <a:off x="611704" y="67310"/>
            <a:ext cx="7920592" cy="70739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Our Model vs the Papers' Models</a:t>
            </a:r>
          </a:p>
        </p:txBody>
      </p:sp>
      <p:graphicFrame>
        <p:nvGraphicFramePr>
          <p:cNvPr id="603" name="Table"/>
          <p:cNvGraphicFramePr/>
          <p:nvPr/>
        </p:nvGraphicFramePr>
        <p:xfrm>
          <a:off x="222000" y="880000"/>
          <a:ext cx="8700000" cy="3000000"/>
        </p:xfrm>
        <a:graphic>
          <a:graphicData uri="http://schemas.openxmlformats.org/drawingml/2006/table">
            <a:tbl>
              <a:tblPr>
                <a:noFill/>
                <a:tableStyleId>{C7660BB1-E7F1-4267-BE83-C20300E01D2A}</a:tableStyleId>
              </a:tblPr>
              <a:tblGrid>
                <a:gridCol w="2300000"/>
                <a:gridCol w="3200000"/>
                <a:gridCol w="3200000"/>
              </a:tblGrid>
              <a:tr h="38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Aspect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The papers (Offline-LD / PPO)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DAHS (ours)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Training signal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One bootstrapped value guess per step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Directly measured cost of every rule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Counterfactuals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Never sees the rules it did not pick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Measures the cost of all four rules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Data needed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Hundreds of shifts, still improving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~25 shifts — already saturated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Stability (25 shifts)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Unstable — breach std 4.5 pts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Stable — breach std 0.3 pts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Heavy-load behaviour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Offline-RL collapses to 61.9% breach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Degrades gracefully to 19.4% breach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Transparency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Opaque action output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Emits a named rule (FIFO/FEFO/WSPT/ATC)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Runtime cost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Value network evaluation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One fast prediction — no live simulation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A"/>
                    </a:solidFill>
                  </a:tcPr>
                </a:tc>
              </a:tr>
              <a:tr h="3600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5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Takeaway: the difference is the training signal — a directly measured answer, not a guessed value.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05" name="dt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02 June 2026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num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01" name="Title"/>
          <p:cNvSpPr txBox="1"/>
          <p:nvPr/>
        </p:nvSpPr>
        <p:spPr>
          <a:xfrm>
            <a:off x="611704" y="67310"/>
            <a:ext cx="7920592" cy="70739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Industry Practice (Amazon, Flipkart) vs DAHS</a:t>
            </a:r>
          </a:p>
        </p:txBody>
      </p:sp>
      <p:graphicFrame>
        <p:nvGraphicFramePr>
          <p:cNvPr id="703" name="Table"/>
          <p:cNvGraphicFramePr/>
          <p:nvPr/>
        </p:nvGraphicFramePr>
        <p:xfrm>
          <a:off x="222000" y="880000"/>
          <a:ext cx="8700000" cy="3000000"/>
        </p:xfrm>
        <a:graphic>
          <a:graphicData uri="http://schemas.openxmlformats.org/drawingml/2006/table">
            <a:tbl>
              <a:tblPr>
                <a:noFill/>
                <a:tableStyleId>{C7660BB1-E7F1-4267-BE83-C20300E01D2A}</a:tableStyleId>
              </a:tblPr>
              <a:tblGrid>
                <a:gridCol w="1850000"/>
                <a:gridCol w="3450000"/>
                <a:gridCol w="3400000"/>
              </a:tblGrid>
              <a:tr h="38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Area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Typical industry practice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DAHS (ours)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On the floor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5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Fixed priority rules (e.g. FIFO / earliest-deadline) — simple, but cannot adapt as conditions change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5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Re-picks the best rule every 15 minutes for the current state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Big-tech AI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5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Deep-RL / large optimization on massive data + compute — powerful, but data-hungry, costly and opaque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5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Big-tech-style adaptivity from ~25 shifts; one cheap, fast prediction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A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Transparency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5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End-to-end models output assignments that are hard for staff to check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5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Outputs a named rule a supervisor already understands and can verify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A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Adapting to change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5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Often needs costly retraining when demand patterns shift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5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Holds up across untuned settings and bursty real data — no retraining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A"/>
                    </a:solidFill>
                  </a:tcPr>
                </a:tc>
              </a:tr>
              <a:tr h="3600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5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*General, publicly-described approaches. DAHS delivers adaptivity without big-tech-scale data, compute or black-box risk — ideal where those resources are not available.</a:t>
                      </a:r>
                    </a:p>
                  </a:txBody>
                  <a:tcPr marT="54000" marB="54000" marR="73000" marL="73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05" name="dt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02 June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